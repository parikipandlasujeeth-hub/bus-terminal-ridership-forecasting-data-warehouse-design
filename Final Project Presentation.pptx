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7" r:id="rId12"/>
    <p:sldId id="269" r:id="rId13"/>
    <p:sldId id="271" r:id="rId14"/>
    <p:sldId id="272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5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12206817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000" cy="1605915"/>
          </a:xfrm>
        </p:spPr>
        <p:txBody>
          <a:bodyPr>
            <a:normAutofit/>
          </a:bodyPr>
          <a:lstStyle/>
          <a:p>
            <a:r>
              <a:rPr lang="en-US" altLang="en-GB" sz="3555" b="1" dirty="0">
                <a:latin typeface="Times New Roman" panose="02020603050405020304" charset="0"/>
                <a:cs typeface="Times New Roman" panose="02020603050405020304" charset="0"/>
              </a:rPr>
              <a:t>Bus Terminal Ridership Forecasting &amp; Data Warehouse Design</a:t>
            </a:r>
            <a:endParaRPr lang="en-US" altLang="en-GB" sz="3555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936875"/>
            <a:ext cx="9144000" cy="3235960"/>
          </a:xfrm>
        </p:spPr>
        <p:txBody>
          <a:bodyPr/>
          <a:lstStyle/>
          <a:p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Database Project 6430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Group </a:t>
            </a:r>
            <a:r>
              <a:rPr lang="en-GB" altLang="en-US" sz="1800">
                <a:latin typeface="Times New Roman" panose="02020603050405020304" charset="0"/>
                <a:cs typeface="Times New Roman" panose="02020603050405020304" charset="0"/>
              </a:rPr>
              <a:t>5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 – Fall 2025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GB" altLang="en-US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Deliverables: Forecasting, Key Drivers, Carrier Analysis, Peak Times, Data Warehouse, Power BI Dashboard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457200" algn="l"/>
            <a:r>
              <a:rPr lang="en-GB" altLang="en-US" sz="1800">
                <a:latin typeface="Times New Roman" panose="02020603050405020304" charset="0"/>
                <a:cs typeface="Times New Roman" panose="02020603050405020304" charset="0"/>
              </a:rPr>
              <a:t>Presented by; Sufiyan Khan, Shah Rabbani, 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Sujeeth Parikipandla </a:t>
            </a:r>
            <a:r>
              <a:rPr lang="en-GB" altLang="en-US" sz="180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Sushmitha reddy</a:t>
            </a:r>
            <a:r>
              <a:rPr lang="en-GB" altLang="en-US" sz="1800">
                <a:latin typeface="Times New Roman" panose="02020603050405020304" charset="0"/>
                <a:cs typeface="Times New Roman" panose="02020603050405020304" charset="0"/>
              </a:rPr>
              <a:t>, 				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Keijounia Thomas</a:t>
            </a:r>
            <a:r>
              <a:rPr lang="en-GB" altLang="en-US" sz="1800">
                <a:latin typeface="Times New Roman" panose="02020603050405020304" charset="0"/>
                <a:cs typeface="Times New Roman" panose="02020603050405020304" charset="0"/>
              </a:rPr>
              <a:t> and </a:t>
            </a: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Ranjitha</a:t>
            </a:r>
            <a:r>
              <a:rPr lang="en-GB" altLang="en-US" sz="180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GB" altLang="en-US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sz="35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Project Overview</a:t>
            </a:r>
            <a:endParaRPr lang="en-GB" altLang="en-US" sz="35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endParaRPr lang="en-US" altLang="en-GB"/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This project analyzes and forecasts passenger demand at the bus terminal from 2026–2030.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The goal is to support planning for temporary staging facilities during the reconstruction phase.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The project combines Python analytics, Power BI visualizations, SQL modeling, and a </a:t>
            </a:r>
            <a:r>
              <a:rPr lang="en-GB" altLang="en-US">
                <a:latin typeface="Times New Roman" panose="02020603050405020304" charset="0"/>
                <a:cs typeface="Times New Roman" panose="02020603050405020304" charset="0"/>
              </a:rPr>
              <a:t>SSIS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 data warehouse.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Results guide operational decisions and long-term capacity management.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3975"/>
            <a:ext cx="10515600" cy="1148715"/>
          </a:xfrm>
        </p:spPr>
        <p:txBody>
          <a:bodyPr/>
          <a:p>
            <a:r>
              <a:rPr lang="en-US" altLang="en-GB" sz="35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Introduction &amp; Objectives</a:t>
            </a:r>
            <a:endParaRPr lang="en-GB" altLang="en-US" sz="35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7935"/>
            <a:ext cx="10515600" cy="5140960"/>
          </a:xfrm>
        </p:spPr>
        <p:txBody>
          <a:bodyPr>
            <a:normAutofit fontScale="55000"/>
          </a:bodyPr>
          <a:p>
            <a:pPr marL="0" indent="0">
              <a:buNone/>
            </a:pPr>
            <a:r>
              <a:rPr lang="en-US" altLang="en-GB" sz="3275" b="1"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 lang="en-US" altLang="en-GB" sz="3275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/>
              <a:t>This project focuses on forecasting bus terminal passenger demand for the years 2026–2030, a period during which the Port Authority will operate temporary staging facilities during major reconstruction.</a:t>
            </a:r>
            <a:endParaRPr lang="en-US" altLang="en-GB"/>
          </a:p>
          <a:p>
            <a:r>
              <a:rPr lang="en-US" altLang="en-GB"/>
              <a:t>The study integrates Python forecasting, Power BI analytics, Snowflake SQL, and a custom data warehouse to deliver a complete operational planning toolkit.</a:t>
            </a:r>
            <a:endParaRPr lang="en-US" altLang="en-GB"/>
          </a:p>
          <a:p>
            <a:r>
              <a:rPr lang="en-US" altLang="en-GB"/>
              <a:t>Insights from this project support capacity planning, scheduling, and long-term infrastructure decisions.</a:t>
            </a:r>
            <a:endParaRPr lang="en-US" altLang="en-GB"/>
          </a:p>
          <a:p>
            <a:endParaRPr lang="en-US" altLang="en-GB"/>
          </a:p>
          <a:p>
            <a:pPr marL="0" indent="0">
              <a:buNone/>
            </a:pPr>
            <a:r>
              <a:rPr lang="en-US" altLang="en-GB" sz="3275" b="1">
                <a:latin typeface="Times New Roman" panose="02020603050405020304" charset="0"/>
                <a:cs typeface="Times New Roman" panose="02020603050405020304" charset="0"/>
              </a:rPr>
              <a:t>Objectives</a:t>
            </a:r>
            <a:endParaRPr lang="en-US" altLang="en-GB" sz="3275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/>
              <a:t>Forecast total passengers from 2026–2030 to estimate future facility usage.</a:t>
            </a:r>
            <a:endParaRPr lang="en-US" altLang="en-GB"/>
          </a:p>
          <a:p>
            <a:r>
              <a:rPr lang="en-US" altLang="en-GB"/>
              <a:t>Identify the most important factors driving ridership.</a:t>
            </a:r>
            <a:endParaRPr lang="en-US" altLang="en-GB"/>
          </a:p>
          <a:p>
            <a:r>
              <a:rPr lang="en-US" altLang="en-GB"/>
              <a:t>Produce individual carrier-level forecasts for targeted operational planning.</a:t>
            </a:r>
            <a:endParaRPr lang="en-US" altLang="en-GB"/>
          </a:p>
          <a:p>
            <a:r>
              <a:rPr lang="en-US" altLang="en-GB"/>
              <a:t>Determine the busiest weeks, months, and years during the forecast window.</a:t>
            </a:r>
            <a:endParaRPr lang="en-US" altLang="en-GB"/>
          </a:p>
          <a:p>
            <a:r>
              <a:rPr lang="en-US" altLang="en-GB"/>
              <a:t>Compare current ridership against the pre-pandemic baseline year 2019.</a:t>
            </a:r>
            <a:endParaRPr lang="en-US" altLang="en-GB"/>
          </a:p>
          <a:p>
            <a:r>
              <a:rPr lang="en-US" altLang="en-GB"/>
              <a:t>Build a data warehouse optimized for analytics and forecasting.</a:t>
            </a:r>
            <a:endParaRPr lang="en-US" altLang="en-GB"/>
          </a:p>
          <a:p>
            <a:r>
              <a:rPr lang="en-US" altLang="en-GB"/>
              <a:t>Create a GitHub project portfolio with all deliverables, dashboards, and documentation.</a:t>
            </a:r>
            <a:endParaRPr lang="en-US" alt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sz="35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Dataset Description</a:t>
            </a:r>
            <a:endParaRPr lang="en-GB" altLang="en-US" sz="35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6745"/>
            <a:ext cx="10515600" cy="4351338"/>
          </a:xfrm>
        </p:spPr>
        <p:txBody>
          <a:bodyPr>
            <a:normAutofit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Data includes daily ridership, carriers, service types, departures, and external factors.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Sources include Snowflake tables and cleaned Excel data.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Key fields used: FULL_DATE, CARRIER, PASSENGERS, SERVICE_TYPE, HOLIDAY_FLAG, FUEL_PRICE, and more.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Prepared through Python preprocessing and SQL transformations.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30605" y="133350"/>
            <a:ext cx="8979535" cy="757555"/>
          </a:xfrm>
        </p:spPr>
        <p:txBody>
          <a:bodyPr>
            <a:normAutofit/>
          </a:bodyPr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Forecasting Methodology</a:t>
            </a:r>
            <a:endParaRPr lang="en-GB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Picture 5" descr="monthly_forecast_plot"/>
          <p:cNvPicPr>
            <a:picLocks noChangeAspect="1"/>
          </p:cNvPicPr>
          <p:nvPr>
            <p:ph type="pic" idx="1"/>
          </p:nvPr>
        </p:nvPicPr>
        <p:blipFill>
          <a:blip r:embed="rId1"/>
          <a:stretch>
            <a:fillRect/>
          </a:stretch>
        </p:blipFill>
        <p:spPr>
          <a:xfrm>
            <a:off x="4814570" y="1466850"/>
            <a:ext cx="5166995" cy="1962150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840105" y="987425"/>
            <a:ext cx="3931920" cy="4881880"/>
          </a:xfrm>
        </p:spPr>
        <p:txBody>
          <a:bodyPr>
            <a:normAutofit/>
          </a:bodyPr>
          <a:p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Python used to build the forecasting model (Prophet/ARIMA).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Training data includes multi-year historical passenger totals.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Forecast generated for 2026–2030 with upper/lower confidence intervals.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Power BI used for 6-month short-term forecasting visualization.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145" y="3328670"/>
            <a:ext cx="5267960" cy="200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105" y="82550"/>
            <a:ext cx="10056495" cy="904875"/>
          </a:xfrm>
        </p:spPr>
        <p:txBody>
          <a:bodyPr>
            <a:normAutofit/>
          </a:bodyPr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Total Passenger Forecast (2026–2030)</a:t>
            </a:r>
            <a:endParaRPr lang="en-GB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6" descr="yearly_forecast_plot"/>
          <p:cNvPicPr>
            <a:picLocks noChangeAspect="1"/>
          </p:cNvPicPr>
          <p:nvPr>
            <p:ph type="pic" idx="1"/>
          </p:nvPr>
        </p:nvPicPr>
        <p:blipFill>
          <a:blip r:embed="rId1"/>
          <a:stretch>
            <a:fillRect/>
          </a:stretch>
        </p:blipFill>
        <p:spPr>
          <a:xfrm>
            <a:off x="5183505" y="1880870"/>
            <a:ext cx="6172200" cy="3086100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105" y="1257300"/>
            <a:ext cx="3931920" cy="4612005"/>
          </a:xfrm>
        </p:spPr>
        <p:txBody>
          <a:bodyPr/>
          <a:p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Results show steady growth from ~44.7M in 2026 to ~74.2M in 2030.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Growth reflects recovery from pandemic effects and rising demand.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Upper-bound confidence intervals indicate potential for even higher ridership.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05" y="180340"/>
            <a:ext cx="10694670" cy="610235"/>
          </a:xfrm>
        </p:spPr>
        <p:txBody>
          <a:bodyPr>
            <a:normAutofit/>
          </a:bodyPr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Key Predictors of Ridership</a:t>
            </a:r>
            <a:endParaRPr lang="en-GB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Picture Placeholder 6" descr="IMG_256"/>
          <p:cNvPicPr>
            <a:picLocks noChangeAspect="1"/>
          </p:cNvPicPr>
          <p:nvPr>
            <p:ph type="pic" idx="1"/>
          </p:nvPr>
        </p:nvPicPr>
        <p:blipFill>
          <a:blip r:embed="rId1"/>
          <a:stretch>
            <a:fillRect/>
          </a:stretch>
        </p:blipFill>
        <p:spPr>
          <a:xfrm>
            <a:off x="5979160" y="2451100"/>
            <a:ext cx="4580255" cy="19450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105" y="987425"/>
            <a:ext cx="3931920" cy="4881880"/>
          </a:xfrm>
        </p:spPr>
        <p:txBody>
          <a:bodyPr>
            <a:normAutofit/>
          </a:bodyPr>
          <a:p>
            <a:endParaRPr lang="en-US" altLang="en-GB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Python feature-importance modeling (Random Forest / Linear Regression).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Most influential variables include: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Service Type (express vs. local)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Holiday Flags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Fuel Prices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Carrier Patterns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Day/Month/Season effects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Findings help optimize scheduling and staffing.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0130" y="0"/>
            <a:ext cx="10314940" cy="857885"/>
          </a:xfrm>
        </p:spPr>
        <p:txBody>
          <a:bodyPr>
            <a:normAutofit/>
          </a:bodyPr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Carrier-Level Forecasting</a:t>
            </a:r>
            <a:endParaRPr lang="en-GB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Picture 4"/>
          <p:cNvPicPr>
            <a:picLocks noChangeAspect="1"/>
          </p:cNvPicPr>
          <p:nvPr>
            <p:ph type="pic" idx="1"/>
          </p:nvPr>
        </p:nvPicPr>
        <p:blipFill>
          <a:blip r:embed="rId1"/>
          <a:stretch>
            <a:fillRect/>
          </a:stretch>
        </p:blipFill>
        <p:spPr>
          <a:xfrm>
            <a:off x="5183505" y="1400810"/>
            <a:ext cx="6172200" cy="232219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105" y="987425"/>
            <a:ext cx="3931920" cy="4881880"/>
          </a:xfrm>
        </p:spPr>
        <p:txBody>
          <a:bodyPr/>
          <a:p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Python models applied separately for each carrier.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Clear variation in demand across carriers, influenced by route patterns and service frequency.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Growing carriers indicate higher future demand for gate/bay allocations.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005" y="3723005"/>
            <a:ext cx="5981700" cy="2177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85725"/>
            <a:ext cx="10360660" cy="648335"/>
          </a:xfrm>
        </p:spPr>
        <p:txBody>
          <a:bodyPr>
            <a:normAutofit/>
          </a:bodyPr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Busiest Periods (Week/Month/Year)</a:t>
            </a:r>
            <a:endParaRPr lang="en-GB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5" descr="IMG_256"/>
          <p:cNvPicPr>
            <a:picLocks noChangeAspect="1"/>
          </p:cNvPicPr>
          <p:nvPr>
            <p:ph type="pic" idx="1"/>
          </p:nvPr>
        </p:nvPicPr>
        <p:blipFill>
          <a:blip r:embed="rId1"/>
          <a:stretch>
            <a:fillRect/>
          </a:stretch>
        </p:blipFill>
        <p:spPr>
          <a:xfrm>
            <a:off x="6208395" y="1134110"/>
            <a:ext cx="3873500" cy="16459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105" y="987425"/>
            <a:ext cx="3931920" cy="4881880"/>
          </a:xfrm>
        </p:spPr>
        <p:txBody>
          <a:bodyPr/>
          <a:p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Weekly patterns show consistent spikes around commuting days and holidays.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Monthly and yearly analysis reveals strong seasonal peaks in summer and winter travel periods.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Forecasted busiest times between 2026–2030 help design staging capacity requirements.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Picture 6" descr="IMG_2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3325" y="2780030"/>
            <a:ext cx="4237990" cy="19456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Picture 7" descr="IMG_2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143" y="4617085"/>
            <a:ext cx="4275455" cy="18148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sz="3200" b="1">
                <a:latin typeface="Times New Roman" panose="02020603050405020304" charset="0"/>
                <a:cs typeface="Times New Roman" panose="02020603050405020304" charset="0"/>
              </a:rPr>
              <a:t>Comparison to 2019 Baseline</a:t>
            </a:r>
            <a:endParaRPr lang="en-US" altLang="en-GB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2019 used as the last stable pre-COVID benchmark.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Current ridership has returned to or surpassed 2019 levels.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Upward trend confirms a full recovery and strong future demand growth.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73430" y="104775"/>
            <a:ext cx="10474960" cy="800100"/>
          </a:xfrm>
        </p:spPr>
        <p:txBody>
          <a:bodyPr>
            <a:normAutofit/>
          </a:bodyPr>
          <a:p>
            <a:pPr algn="ctr"/>
            <a:r>
              <a:rPr lang="en-US" altLang="en-GB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 Warehouse Design</a:t>
            </a:r>
            <a:endParaRPr lang="en-GB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Picture 1"/>
          <p:cNvPicPr>
            <a:picLocks noChangeAspect="1"/>
          </p:cNvPicPr>
          <p:nvPr>
            <p:ph type="pic" idx="1"/>
          </p:nvPr>
        </p:nvPicPr>
        <p:blipFill>
          <a:blip r:embed="rId1"/>
          <a:stretch>
            <a:fillRect/>
          </a:stretch>
        </p:blipFill>
        <p:spPr>
          <a:xfrm>
            <a:off x="5183505" y="1540510"/>
            <a:ext cx="6172200" cy="376682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840105" y="1104900"/>
            <a:ext cx="3931920" cy="4764405"/>
          </a:xfrm>
        </p:spPr>
        <p:txBody>
          <a:bodyPr>
            <a:normAutofit lnSpcReduction="20000"/>
          </a:bodyPr>
          <a:p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Built using a Star Schema to support fast analytics.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Tables include: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Fact_Ridership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Dim_Date, Dim_Carrier, Dim_Service_Type, Dim_External_Factors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Optimized for Power BI models and future machine learning integration.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GitHub Portfolio</a:t>
            </a:r>
            <a:endParaRPr lang="en-GB" alt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>
              <a:buNone/>
            </a:pPr>
            <a:endParaRPr lang="en-US" altLang="en-GB" sz="1600"/>
          </a:p>
          <a:p>
            <a:pPr marL="0" indent="0">
              <a:buNone/>
            </a:pPr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GitHub repository includes: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Final project report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Power BI dashboard (embedded data)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Python forecasting scripts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SQL code and warehouse schema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2000">
                <a:latin typeface="Times New Roman" panose="02020603050405020304" charset="0"/>
                <a:cs typeface="Times New Roman" panose="02020603050405020304" charset="0"/>
              </a:rPr>
              <a:t>“Project Resources” document</a:t>
            </a:r>
            <a:endParaRPr lang="en-US" altLang="en-GB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 sz="3200" b="1">
                <a:latin typeface="Times New Roman" panose="02020603050405020304" charset="0"/>
                <a:cs typeface="Times New Roman" panose="02020603050405020304" charset="0"/>
              </a:rPr>
              <a:t>Conclusion </a:t>
            </a:r>
            <a:endParaRPr lang="en-GB" alt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This project delivered a complete forecasting and analytics framework for planning bus terminal operations during the 2026–2030 reconstruction period.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Forecast models show steady ridership growth, emphasizing the need for expanded staging capacity and strategic scheduling.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Carrier-level analysis and peak-time projections provide actionable insights for managing gates, staffing, and passenger flow.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The custom data warehouse enables fast, scalable analytics and supports future reporting and machine learning tasks.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800">
                <a:latin typeface="Times New Roman" panose="02020603050405020304" charset="0"/>
                <a:cs typeface="Times New Roman" panose="02020603050405020304" charset="0"/>
              </a:rPr>
              <a:t>With the GitHub portfolio, Power BI dashboard, and final report, the project offers a fully documented, end-to-end solution for data-driven decision making.</a:t>
            </a:r>
            <a:endParaRPr lang="en-US" altLang="en-GB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 sz="3200" b="1">
                <a:latin typeface="Times New Roman" panose="02020603050405020304" charset="0"/>
                <a:cs typeface="Times New Roman" panose="02020603050405020304" charset="0"/>
              </a:rPr>
              <a:t>References</a:t>
            </a:r>
            <a:endParaRPr lang="en-GB" alt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Arumsari, S. S., &amp; Aamer, A. (2022). Design and application of data analytics in an internet-of-things enabled warehouse.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Journal of Science and Technology Policy Management,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13(2), 485-504.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El-Taweel, N. A., Farag, H. E., Barai, G., Zeineldin, H., Al-Durra, A., &amp; El-Saadany, E. F. (2021). A systematic approach for design and analysis of electrified public bus transit fleets.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IEEE Systems Journal,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16(2), 2989-3000.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Lavanya, A., Gaurav, L., Sindhuja, S., Seam, H., Joydeep, M., Uppalapati, V., ... &amp; SD, V. S. (2023). Assessing the performance of Python data visualization libraries: a review.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Int. J. Comput. Eng. Res. Trends,</a:t>
            </a:r>
            <a:r>
              <a:rPr lang="" altLang="en-US">
                <a:latin typeface="Times New Roman" panose="02020603050405020304" charset="0"/>
                <a:cs typeface="Times New Roman" panose="02020603050405020304" charset="0"/>
              </a:rPr>
              <a:t> </a:t>
            </a:r>
            <a:r>
              <a:rPr lang="en-US" altLang="en-GB">
                <a:latin typeface="Times New Roman" panose="02020603050405020304" charset="0"/>
                <a:cs typeface="Times New Roman" panose="02020603050405020304" charset="0"/>
              </a:rPr>
              <a:t>10(1), 28-39.</a:t>
            </a:r>
            <a:endParaRPr lang="en-US" altLang="en-GB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5311</Words>
  <Application>WPS Presentation</Application>
  <PresentationFormat>Widescreen</PresentationFormat>
  <Paragraphs>129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SimSun</vt:lpstr>
      <vt:lpstr>Wingdings</vt:lpstr>
      <vt:lpstr>Times New Roman</vt:lpstr>
      <vt:lpstr>Microsoft YaHei</vt:lpstr>
      <vt:lpstr>Arial Unicode MS</vt:lpstr>
      <vt:lpstr>Calibri Light</vt:lpstr>
      <vt:lpstr>Calibri</vt:lpstr>
      <vt:lpstr>Communications and Dialogues</vt:lpstr>
      <vt:lpstr>Bus Terminal Ridership Forecasting &amp; Data Warehouse Design</vt:lpstr>
      <vt:lpstr>Project Overview</vt:lpstr>
      <vt:lpstr>Introduction &amp; Objectives</vt:lpstr>
      <vt:lpstr>Dataset Description</vt:lpstr>
      <vt:lpstr>Forecasting Methodology</vt:lpstr>
      <vt:lpstr>Total Passenger Forecast (2026–2030)</vt:lpstr>
      <vt:lpstr>Key Predictors of Ridership</vt:lpstr>
      <vt:lpstr>Carrier-Level Forecasting</vt:lpstr>
      <vt:lpstr>Busiest Periods (Week/Month/Year)</vt:lpstr>
      <vt:lpstr>Comparison to 2019 Baseline</vt:lpstr>
      <vt:lpstr>Data Warehouse Design</vt:lpstr>
      <vt:lpstr>GitHub Portfolio</vt:lpstr>
      <vt:lpstr>Conclusion 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uirt</cp:lastModifiedBy>
  <cp:revision>5</cp:revision>
  <dcterms:created xsi:type="dcterms:W3CDTF">2025-07-23T00:59:00Z</dcterms:created>
  <dcterms:modified xsi:type="dcterms:W3CDTF">2025-12-01T03:19:52Z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327130DD23C34B189A4A911318BEFCFC_11</vt:lpwstr>
  </property>
  <property fmtid="{D5CDD505-2E9C-101B-9397-08002B2CF9AE}" pid="3" name="KSOProductBuildVer">
    <vt:lpwstr>2057-12.2.0.23155</vt:lpwstr>
  </property>
</Properties>
</file>